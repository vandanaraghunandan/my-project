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528" y="8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7199283" cy="1200329"/>
          </a:xfrm>
          <a:prstGeom prst="rect">
            <a:avLst/>
          </a:prstGeom>
          <a:noFill/>
        </p:spPr>
        <p:txBody>
          <a:bodyPr wrap="square" rtlCol="0">
            <a:spAutoFit/>
          </a:bodyPr>
          <a:lstStyle/>
          <a:p>
            <a:pPr algn="ctr"/>
            <a:r>
              <a:rPr lang="en-US" sz="3600" b="1" dirty="0">
                <a:solidFill>
                  <a:schemeClr val="bg1"/>
                </a:solidFill>
                <a:latin typeface="Arial" panose="020B0604020202020204" pitchFamily="34" charset="0"/>
                <a:cs typeface="Arial" panose="020B0604020202020204" pitchFamily="34" charset="0"/>
              </a:rPr>
              <a:t>WIND POWER GENERATION FORECASTING</a:t>
            </a: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Rectangle 1">
            <a:extLst>
              <a:ext uri="{FF2B5EF4-FFF2-40B4-BE49-F238E27FC236}">
                <a16:creationId xmlns:a16="http://schemas.microsoft.com/office/drawing/2014/main" id="{35F6ECE5-6C8D-B812-E8DB-D6F8322C1BF4}"/>
              </a:ext>
            </a:extLst>
          </p:cNvPr>
          <p:cNvSpPr>
            <a:spLocks noChangeArrowheads="1"/>
          </p:cNvSpPr>
          <p:nvPr/>
        </p:nvSpPr>
        <p:spPr bwMode="auto">
          <a:xfrm rot="10800000" flipV="1">
            <a:off x="111319" y="1947954"/>
            <a:ext cx="7322268"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Understand the Fundamentals of Wind Energy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Explain how wind energy is converted into electricity.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Identify key components of a wind turbine.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Recognize the Importance of Forecasting in Wind Power Generation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Describe challenges of integrating wind power into the grid.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Explain how forecasting improves energy reliability and planning.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Explore Different Wind Forecasting Techniques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Distinguish between short-term, medium-term, and long-term forecasts.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Compare statistical vs. machine learning vs. physical models.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Analyze Key Meteorological Inputs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Understand the role of wind speed, direction, and atmospheric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Interpret weather model outputs (e.g., NWP - Numerical Weather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graphicFrame>
        <p:nvGraphicFramePr>
          <p:cNvPr id="2" name="Table 1">
            <a:extLst>
              <a:ext uri="{FF2B5EF4-FFF2-40B4-BE49-F238E27FC236}">
                <a16:creationId xmlns:a16="http://schemas.microsoft.com/office/drawing/2014/main" id="{716E02E0-635E-F4EC-8C1E-CF063203C39D}"/>
              </a:ext>
            </a:extLst>
          </p:cNvPr>
          <p:cNvGraphicFramePr>
            <a:graphicFrameLocks noGrp="1"/>
          </p:cNvGraphicFramePr>
          <p:nvPr>
            <p:extLst>
              <p:ext uri="{D42A27DB-BD31-4B8C-83A1-F6EECF244321}">
                <p14:modId xmlns:p14="http://schemas.microsoft.com/office/powerpoint/2010/main" val="669406271"/>
              </p:ext>
            </p:extLst>
          </p:nvPr>
        </p:nvGraphicFramePr>
        <p:xfrm>
          <a:off x="301869" y="1965199"/>
          <a:ext cx="10515600" cy="4054603"/>
        </p:xfrm>
        <a:graphic>
          <a:graphicData uri="http://schemas.openxmlformats.org/drawingml/2006/table">
            <a:tbl>
              <a:tblPr>
                <a:tableStyleId>{284E427A-3D55-4303-BF80-6455036E1DE7}</a:tableStyleId>
              </a:tblPr>
              <a:tblGrid>
                <a:gridCol w="5257800">
                  <a:extLst>
                    <a:ext uri="{9D8B030D-6E8A-4147-A177-3AD203B41FA5}">
                      <a16:colId xmlns:a16="http://schemas.microsoft.com/office/drawing/2014/main" val="3844466360"/>
                    </a:ext>
                  </a:extLst>
                </a:gridCol>
                <a:gridCol w="5257800">
                  <a:extLst>
                    <a:ext uri="{9D8B030D-6E8A-4147-A177-3AD203B41FA5}">
                      <a16:colId xmlns:a16="http://schemas.microsoft.com/office/drawing/2014/main" val="1912584616"/>
                    </a:ext>
                  </a:extLst>
                </a:gridCol>
              </a:tblGrid>
              <a:tr h="0">
                <a:tc>
                  <a:txBody>
                    <a:bodyPr/>
                    <a:lstStyle/>
                    <a:p>
                      <a:r>
                        <a:rPr lang="en-IN"/>
                        <a:t>Tool / Technology</a:t>
                      </a:r>
                    </a:p>
                  </a:txBody>
                  <a:tcPr anchor="ctr"/>
                </a:tc>
                <a:tc>
                  <a:txBody>
                    <a:bodyPr/>
                    <a:lstStyle/>
                    <a:p>
                      <a:r>
                        <a:rPr lang="en-IN"/>
                        <a:t>Purpose / Use Case</a:t>
                      </a:r>
                    </a:p>
                  </a:txBody>
                  <a:tcPr anchor="ctr"/>
                </a:tc>
                <a:extLst>
                  <a:ext uri="{0D108BD9-81ED-4DB2-BD59-A6C34878D82A}">
                    <a16:rowId xmlns:a16="http://schemas.microsoft.com/office/drawing/2014/main" val="3337405268"/>
                  </a:ext>
                </a:extLst>
              </a:tr>
              <a:tr h="0">
                <a:tc>
                  <a:txBody>
                    <a:bodyPr/>
                    <a:lstStyle/>
                    <a:p>
                      <a:r>
                        <a:rPr lang="en-IN" b="1" dirty="0" err="1"/>
                        <a:t>Jupyter</a:t>
                      </a:r>
                      <a:r>
                        <a:rPr lang="en-IN" b="1" dirty="0"/>
                        <a:t> Notebook</a:t>
                      </a:r>
                      <a:endParaRPr lang="en-IN" dirty="0"/>
                    </a:p>
                  </a:txBody>
                  <a:tcPr anchor="ctr"/>
                </a:tc>
                <a:tc>
                  <a:txBody>
                    <a:bodyPr/>
                    <a:lstStyle/>
                    <a:p>
                      <a:r>
                        <a:rPr lang="en-GB"/>
                        <a:t>Interactive coding environment for data analysis and visualization</a:t>
                      </a:r>
                    </a:p>
                  </a:txBody>
                  <a:tcPr anchor="ctr"/>
                </a:tc>
                <a:extLst>
                  <a:ext uri="{0D108BD9-81ED-4DB2-BD59-A6C34878D82A}">
                    <a16:rowId xmlns:a16="http://schemas.microsoft.com/office/drawing/2014/main" val="3495690568"/>
                  </a:ext>
                </a:extLst>
              </a:tr>
              <a:tr h="0">
                <a:tc>
                  <a:txBody>
                    <a:bodyPr/>
                    <a:lstStyle/>
                    <a:p>
                      <a:r>
                        <a:rPr lang="en-IN" b="1"/>
                        <a:t>Python</a:t>
                      </a:r>
                      <a:endParaRPr lang="en-IN"/>
                    </a:p>
                  </a:txBody>
                  <a:tcPr anchor="ctr"/>
                </a:tc>
                <a:tc>
                  <a:txBody>
                    <a:bodyPr/>
                    <a:lstStyle/>
                    <a:p>
                      <a:r>
                        <a:rPr lang="en-GB"/>
                        <a:t>Core programming language for building forecasting models</a:t>
                      </a:r>
                    </a:p>
                  </a:txBody>
                  <a:tcPr anchor="ctr"/>
                </a:tc>
                <a:extLst>
                  <a:ext uri="{0D108BD9-81ED-4DB2-BD59-A6C34878D82A}">
                    <a16:rowId xmlns:a16="http://schemas.microsoft.com/office/drawing/2014/main" val="591774690"/>
                  </a:ext>
                </a:extLst>
              </a:tr>
              <a:tr h="0">
                <a:tc>
                  <a:txBody>
                    <a:bodyPr/>
                    <a:lstStyle/>
                    <a:p>
                      <a:r>
                        <a:rPr lang="en-IN" b="1"/>
                        <a:t>NumPy</a:t>
                      </a:r>
                      <a:endParaRPr lang="en-IN"/>
                    </a:p>
                  </a:txBody>
                  <a:tcPr anchor="ctr"/>
                </a:tc>
                <a:tc>
                  <a:txBody>
                    <a:bodyPr/>
                    <a:lstStyle/>
                    <a:p>
                      <a:r>
                        <a:rPr lang="en-GB"/>
                        <a:t>Efficient numerical computation and handling large arrays</a:t>
                      </a:r>
                    </a:p>
                  </a:txBody>
                  <a:tcPr anchor="ctr"/>
                </a:tc>
                <a:extLst>
                  <a:ext uri="{0D108BD9-81ED-4DB2-BD59-A6C34878D82A}">
                    <a16:rowId xmlns:a16="http://schemas.microsoft.com/office/drawing/2014/main" val="2411732884"/>
                  </a:ext>
                </a:extLst>
              </a:tr>
              <a:tr h="0">
                <a:tc>
                  <a:txBody>
                    <a:bodyPr/>
                    <a:lstStyle/>
                    <a:p>
                      <a:r>
                        <a:rPr lang="en-IN" b="1"/>
                        <a:t>Pandas</a:t>
                      </a:r>
                      <a:endParaRPr lang="en-IN"/>
                    </a:p>
                  </a:txBody>
                  <a:tcPr anchor="ctr"/>
                </a:tc>
                <a:tc>
                  <a:txBody>
                    <a:bodyPr/>
                    <a:lstStyle/>
                    <a:p>
                      <a:r>
                        <a:rPr lang="en-GB"/>
                        <a:t>Data manipulation, cleaning, and time-series analysis</a:t>
                      </a:r>
                    </a:p>
                  </a:txBody>
                  <a:tcPr anchor="ctr"/>
                </a:tc>
                <a:extLst>
                  <a:ext uri="{0D108BD9-81ED-4DB2-BD59-A6C34878D82A}">
                    <a16:rowId xmlns:a16="http://schemas.microsoft.com/office/drawing/2014/main" val="1240896266"/>
                  </a:ext>
                </a:extLst>
              </a:tr>
              <a:tr h="0">
                <a:tc>
                  <a:txBody>
                    <a:bodyPr/>
                    <a:lstStyle/>
                    <a:p>
                      <a:r>
                        <a:rPr lang="en-IN" b="1"/>
                        <a:t>Seaborn (sns)</a:t>
                      </a:r>
                      <a:endParaRPr lang="en-IN"/>
                    </a:p>
                  </a:txBody>
                  <a:tcPr anchor="ctr"/>
                </a:tc>
                <a:tc>
                  <a:txBody>
                    <a:bodyPr/>
                    <a:lstStyle/>
                    <a:p>
                      <a:r>
                        <a:rPr lang="en-GB"/>
                        <a:t>Advanced data visualization, especially for statistical plots</a:t>
                      </a:r>
                    </a:p>
                  </a:txBody>
                  <a:tcPr anchor="ctr"/>
                </a:tc>
                <a:extLst>
                  <a:ext uri="{0D108BD9-81ED-4DB2-BD59-A6C34878D82A}">
                    <a16:rowId xmlns:a16="http://schemas.microsoft.com/office/drawing/2014/main" val="4053384701"/>
                  </a:ext>
                </a:extLst>
              </a:tr>
              <a:tr h="0">
                <a:tc>
                  <a:txBody>
                    <a:bodyPr/>
                    <a:lstStyle/>
                    <a:p>
                      <a:r>
                        <a:rPr lang="en-IN" b="1"/>
                        <a:t>Matplotlib</a:t>
                      </a:r>
                      <a:endParaRPr lang="en-IN"/>
                    </a:p>
                  </a:txBody>
                  <a:tcPr anchor="ctr"/>
                </a:tc>
                <a:tc>
                  <a:txBody>
                    <a:bodyPr/>
                    <a:lstStyle/>
                    <a:p>
                      <a:r>
                        <a:rPr lang="en-GB" dirty="0"/>
                        <a:t>Plotting and visualizing trends and comparisons</a:t>
                      </a:r>
                    </a:p>
                  </a:txBody>
                  <a:tcPr anchor="ctr"/>
                </a:tc>
                <a:extLst>
                  <a:ext uri="{0D108BD9-81ED-4DB2-BD59-A6C34878D82A}">
                    <a16:rowId xmlns:a16="http://schemas.microsoft.com/office/drawing/2014/main" val="1453505026"/>
                  </a:ext>
                </a:extLst>
              </a:tr>
            </a:tbl>
          </a:graphicData>
        </a:graphic>
      </p:graphicFrame>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A90B3122-4BC9-1646-4427-76211289F3F8}"/>
              </a:ext>
            </a:extLst>
          </p:cNvPr>
          <p:cNvSpPr txBox="1"/>
          <p:nvPr/>
        </p:nvSpPr>
        <p:spPr>
          <a:xfrm>
            <a:off x="203178" y="1284424"/>
            <a:ext cx="12212516" cy="5509200"/>
          </a:xfrm>
          <a:prstGeom prst="rect">
            <a:avLst/>
          </a:prstGeom>
          <a:noFill/>
        </p:spPr>
        <p:txBody>
          <a:bodyPr wrap="square">
            <a:spAutoFit/>
          </a:bodyPr>
          <a:lstStyle/>
          <a:p>
            <a:pPr>
              <a:buNone/>
            </a:pPr>
            <a:r>
              <a:rPr lang="en-IN" sz="1600" b="1" dirty="0"/>
              <a:t>1. Data Collection</a:t>
            </a:r>
          </a:p>
          <a:p>
            <a:pPr>
              <a:buFont typeface="Arial" panose="020B0604020202020204" pitchFamily="34" charset="0"/>
              <a:buChar char="•"/>
            </a:pPr>
            <a:r>
              <a:rPr lang="en-IN" sz="1600" dirty="0"/>
              <a:t>Source wind data from weather APIs or historical datasets (e.g., NOAA, NREL).</a:t>
            </a:r>
          </a:p>
          <a:p>
            <a:pPr>
              <a:buFont typeface="Arial" panose="020B0604020202020204" pitchFamily="34" charset="0"/>
              <a:buChar char="•"/>
            </a:pPr>
            <a:r>
              <a:rPr lang="en-IN" sz="1600" dirty="0"/>
              <a:t>Include features like wind speed, direction, temperature, pressure, etc.</a:t>
            </a:r>
          </a:p>
          <a:p>
            <a:pPr>
              <a:buNone/>
            </a:pPr>
            <a:r>
              <a:rPr lang="en-IN" sz="1600" b="1" dirty="0"/>
              <a:t>2. Data Preprocessing</a:t>
            </a:r>
          </a:p>
          <a:p>
            <a:pPr>
              <a:buFont typeface="Arial" panose="020B0604020202020204" pitchFamily="34" charset="0"/>
              <a:buChar char="•"/>
            </a:pPr>
            <a:r>
              <a:rPr lang="en-IN" sz="1600" dirty="0"/>
              <a:t>Clean and filter raw data using </a:t>
            </a:r>
            <a:r>
              <a:rPr lang="en-IN" sz="1600" b="1" dirty="0"/>
              <a:t>Pandas</a:t>
            </a:r>
            <a:r>
              <a:rPr lang="en-IN" sz="1600" dirty="0"/>
              <a:t>.</a:t>
            </a:r>
          </a:p>
          <a:p>
            <a:pPr>
              <a:buFont typeface="Arial" panose="020B0604020202020204" pitchFamily="34" charset="0"/>
              <a:buChar char="•"/>
            </a:pPr>
            <a:r>
              <a:rPr lang="en-IN" sz="1600" dirty="0"/>
              <a:t>Handle missing values, outliers, and normalize data.</a:t>
            </a:r>
          </a:p>
          <a:p>
            <a:pPr>
              <a:buFont typeface="Arial" panose="020B0604020202020204" pitchFamily="34" charset="0"/>
              <a:buChar char="•"/>
            </a:pPr>
            <a:r>
              <a:rPr lang="en-IN" sz="1600" dirty="0"/>
              <a:t>Create lag features and rolling averages.</a:t>
            </a:r>
          </a:p>
          <a:p>
            <a:pPr>
              <a:buNone/>
            </a:pPr>
            <a:r>
              <a:rPr lang="en-IN" sz="1600" b="1" dirty="0"/>
              <a:t>3. Exploratory Data Analysis (EDA)</a:t>
            </a:r>
          </a:p>
          <a:p>
            <a:pPr>
              <a:buFont typeface="Arial" panose="020B0604020202020204" pitchFamily="34" charset="0"/>
              <a:buChar char="•"/>
            </a:pPr>
            <a:r>
              <a:rPr lang="en-IN" sz="1600" dirty="0"/>
              <a:t>Visualize wind patterns using </a:t>
            </a:r>
            <a:r>
              <a:rPr lang="en-IN" sz="1600" b="1" dirty="0"/>
              <a:t>Seaborn</a:t>
            </a:r>
            <a:r>
              <a:rPr lang="en-IN" sz="1600" dirty="0"/>
              <a:t> and </a:t>
            </a:r>
            <a:r>
              <a:rPr lang="en-IN" sz="1600" b="1" dirty="0"/>
              <a:t>Matplotlib</a:t>
            </a:r>
            <a:r>
              <a:rPr lang="en-IN" sz="1600" dirty="0"/>
              <a:t>.</a:t>
            </a:r>
          </a:p>
          <a:p>
            <a:pPr>
              <a:buFont typeface="Arial" panose="020B0604020202020204" pitchFamily="34" charset="0"/>
              <a:buChar char="•"/>
            </a:pPr>
            <a:r>
              <a:rPr lang="en-IN" sz="1600" dirty="0" err="1"/>
              <a:t>Analyze</a:t>
            </a:r>
            <a:r>
              <a:rPr lang="en-IN" sz="1600" dirty="0"/>
              <a:t> distributions, correlations, and trends.</a:t>
            </a:r>
          </a:p>
          <a:p>
            <a:pPr>
              <a:buNone/>
            </a:pPr>
            <a:r>
              <a:rPr lang="en-IN" sz="1600" b="1" dirty="0"/>
              <a:t>4. Feature Engineering</a:t>
            </a:r>
          </a:p>
          <a:p>
            <a:pPr>
              <a:buFont typeface="Arial" panose="020B0604020202020204" pitchFamily="34" charset="0"/>
              <a:buChar char="•"/>
            </a:pPr>
            <a:r>
              <a:rPr lang="en-IN" sz="1600" dirty="0"/>
              <a:t>Generate time-based features (hour, day, seasonality).</a:t>
            </a:r>
          </a:p>
          <a:p>
            <a:pPr>
              <a:buFont typeface="Arial" panose="020B0604020202020204" pitchFamily="34" charset="0"/>
              <a:buChar char="•"/>
            </a:pPr>
            <a:r>
              <a:rPr lang="en-IN" sz="1600" dirty="0"/>
              <a:t>Compute derived metrics like wind power potential using:</a:t>
            </a:r>
          </a:p>
          <a:p>
            <a:pPr>
              <a:buNone/>
            </a:pPr>
            <a:r>
              <a:rPr lang="en-IN" sz="1600" b="1" dirty="0"/>
              <a:t>5. Model Selection &amp; Training</a:t>
            </a:r>
          </a:p>
          <a:p>
            <a:pPr>
              <a:buFont typeface="Arial" panose="020B0604020202020204" pitchFamily="34" charset="0"/>
              <a:buChar char="•"/>
            </a:pPr>
            <a:r>
              <a:rPr lang="en-IN" sz="1600" dirty="0"/>
              <a:t>Choose models (e.g., Linear Regression, Random Forest, </a:t>
            </a:r>
            <a:r>
              <a:rPr lang="en-IN" sz="1600" dirty="0" err="1"/>
              <a:t>XGBoost</a:t>
            </a:r>
            <a:r>
              <a:rPr lang="en-IN" sz="1600" dirty="0"/>
              <a:t>).</a:t>
            </a:r>
          </a:p>
          <a:p>
            <a:pPr>
              <a:buFont typeface="Arial" panose="020B0604020202020204" pitchFamily="34" charset="0"/>
              <a:buChar char="•"/>
            </a:pPr>
            <a:r>
              <a:rPr lang="en-IN" sz="1600" dirty="0"/>
              <a:t>Split into train/test sets; apply cross-validation.</a:t>
            </a:r>
          </a:p>
          <a:p>
            <a:pPr>
              <a:buNone/>
            </a:pPr>
            <a:r>
              <a:rPr lang="en-IN" sz="1600" b="1" dirty="0"/>
              <a:t>6. Forecasting</a:t>
            </a:r>
          </a:p>
          <a:p>
            <a:pPr>
              <a:buFont typeface="Arial" panose="020B0604020202020204" pitchFamily="34" charset="0"/>
              <a:buChar char="•"/>
            </a:pPr>
            <a:r>
              <a:rPr lang="en-IN" sz="1600" dirty="0"/>
              <a:t>Predict wind power generation based on input features.</a:t>
            </a:r>
          </a:p>
          <a:p>
            <a:pPr>
              <a:buFont typeface="Arial" panose="020B0604020202020204" pitchFamily="34" charset="0"/>
              <a:buChar char="•"/>
            </a:pPr>
            <a:r>
              <a:rPr lang="en-IN" sz="1600" dirty="0"/>
              <a:t>Use </a:t>
            </a:r>
            <a:r>
              <a:rPr lang="en-IN" sz="1600" dirty="0" err="1"/>
              <a:t>Jupyter</a:t>
            </a:r>
            <a:r>
              <a:rPr lang="en-IN" sz="1600" dirty="0"/>
              <a:t> Notebook to iterate and refine models.</a:t>
            </a:r>
          </a:p>
          <a:p>
            <a:pPr>
              <a:buNone/>
            </a:pPr>
            <a:r>
              <a:rPr lang="en-IN" sz="1600" b="1" dirty="0"/>
              <a:t>7. Model Evaluation</a:t>
            </a:r>
          </a:p>
          <a:p>
            <a:pPr>
              <a:buFont typeface="Arial" panose="020B0604020202020204" pitchFamily="34" charset="0"/>
              <a:buChar char="•"/>
            </a:pPr>
            <a:r>
              <a:rPr lang="en-IN" sz="1600" dirty="0"/>
              <a:t>Evaluate accuracy using MAE, RMSE, and MAPE.</a:t>
            </a:r>
          </a:p>
          <a:p>
            <a:pPr>
              <a:buFont typeface="Arial" panose="020B0604020202020204" pitchFamily="34" charset="0"/>
              <a:buChar char="•"/>
            </a:pPr>
            <a:r>
              <a:rPr lang="en-IN" sz="1600" dirty="0"/>
              <a:t>Compare model performance visually and statistically.</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717F1070-07A8-56A9-7493-EA631BCA1993}"/>
              </a:ext>
            </a:extLst>
          </p:cNvPr>
          <p:cNvSpPr txBox="1"/>
          <p:nvPr/>
        </p:nvSpPr>
        <p:spPr>
          <a:xfrm>
            <a:off x="149469" y="1941827"/>
            <a:ext cx="11183816" cy="2390911"/>
          </a:xfrm>
          <a:prstGeom prst="rect">
            <a:avLst/>
          </a:prstGeom>
          <a:noFill/>
        </p:spPr>
        <p:txBody>
          <a:bodyPr wrap="square">
            <a:spAutoFit/>
          </a:bodyPr>
          <a:lstStyle/>
          <a:p>
            <a:r>
              <a:rPr lang="en-GB" dirty="0"/>
              <a:t>The integration of wind power into national grids faces significant challenges due to the inherent variability of wind energy, leading to issues such as grid instability, increased operational costs, and inefficiencies in energy trading. Accurate forecasting is critical to address these challenges and improve decision-making for grid operators, energy suppliers, and market traders. However, wind power forecasting is hindered by the high variability of wind patterns, limited data availability, and the complex relationships between meteorological factors and energy generation. Therefore, developing a reliable and efficient wind power generation forecasting model is essential for optimizing grid management and reducing operational inefficiencies.</a:t>
            </a: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05635" y="7115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8" name="Rectangle 5">
            <a:extLst>
              <a:ext uri="{FF2B5EF4-FFF2-40B4-BE49-F238E27FC236}">
                <a16:creationId xmlns:a16="http://schemas.microsoft.com/office/drawing/2014/main" id="{559E84E5-3884-A9B5-71F4-033B88A9611E}"/>
              </a:ext>
            </a:extLst>
          </p:cNvPr>
          <p:cNvSpPr>
            <a:spLocks noChangeArrowheads="1"/>
          </p:cNvSpPr>
          <p:nvPr/>
        </p:nvSpPr>
        <p:spPr bwMode="auto">
          <a:xfrm>
            <a:off x="105635" y="1188566"/>
            <a:ext cx="10559562"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Objective</a:t>
            </a:r>
            <a:r>
              <a:rPr kumimoji="0" lang="en-US" altLang="en-US" sz="1600" b="0" i="0" u="none" strike="noStrike" cap="none" normalizeH="0" baseline="0" dirty="0">
                <a:ln>
                  <a:noFill/>
                </a:ln>
                <a:solidFill>
                  <a:schemeClr val="tx1"/>
                </a:solidFill>
                <a:effectLst/>
                <a:latin typeface="Arial" panose="020B0604020202020204" pitchFamily="34" charset="0"/>
              </a:rPr>
              <a:t>: Address challenges of wind power integration with a robust forecasting model.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Core Technologies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lvl="7" eaLnBrk="0" fontAlgn="base" hangingPunct="0">
              <a:spcBef>
                <a:spcPct val="0"/>
              </a:spcBef>
              <a:spcAft>
                <a:spcPct val="0"/>
              </a:spcAft>
              <a:buClr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Data analytics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Machine learning techniques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Data Utilization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High-quality meteorological data (wind speed, direction, atmospheric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Statistical and machine learning algorithms for forecasting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Forecasting Goals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Accurate short-term and long-term forecasts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Expected Outcomes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Improve grid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Optimize energy trading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Reduce operational costs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Enable better decision-making for grid operators and energy suppliers</a:t>
            </a:r>
            <a:endParaRPr lang="en-US" altLang="en-US" sz="16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Continuous Model Improvement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Incorporate real-time data for model refinement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advanced performance metrics for high accuracy and reliability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2968868"/>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93558" y="777613"/>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16" name="Picture 15">
            <a:extLst>
              <a:ext uri="{FF2B5EF4-FFF2-40B4-BE49-F238E27FC236}">
                <a16:creationId xmlns:a16="http://schemas.microsoft.com/office/drawing/2014/main" id="{DB36D59F-94C8-B16D-09B8-1E5B0393F13E}"/>
              </a:ext>
            </a:extLst>
          </p:cNvPr>
          <p:cNvPicPr>
            <a:picLocks noChangeAspect="1"/>
          </p:cNvPicPr>
          <p:nvPr/>
        </p:nvPicPr>
        <p:blipFill>
          <a:blip r:embed="rId2"/>
          <a:stretch>
            <a:fillRect/>
          </a:stretch>
        </p:blipFill>
        <p:spPr>
          <a:xfrm>
            <a:off x="255104" y="1294861"/>
            <a:ext cx="4783289" cy="2134139"/>
          </a:xfrm>
          <a:prstGeom prst="rect">
            <a:avLst/>
          </a:prstGeom>
        </p:spPr>
      </p:pic>
      <p:pic>
        <p:nvPicPr>
          <p:cNvPr id="18" name="Picture 17">
            <a:extLst>
              <a:ext uri="{FF2B5EF4-FFF2-40B4-BE49-F238E27FC236}">
                <a16:creationId xmlns:a16="http://schemas.microsoft.com/office/drawing/2014/main" id="{37131A2D-C669-B689-D1BF-1FBC834C221A}"/>
              </a:ext>
            </a:extLst>
          </p:cNvPr>
          <p:cNvPicPr>
            <a:picLocks noChangeAspect="1"/>
          </p:cNvPicPr>
          <p:nvPr/>
        </p:nvPicPr>
        <p:blipFill>
          <a:blip r:embed="rId3"/>
          <a:stretch>
            <a:fillRect/>
          </a:stretch>
        </p:blipFill>
        <p:spPr>
          <a:xfrm>
            <a:off x="5258201" y="1177723"/>
            <a:ext cx="4202322" cy="2130616"/>
          </a:xfrm>
          <a:prstGeom prst="rect">
            <a:avLst/>
          </a:prstGeom>
        </p:spPr>
      </p:pic>
      <p:pic>
        <p:nvPicPr>
          <p:cNvPr id="20" name="Picture 19">
            <a:extLst>
              <a:ext uri="{FF2B5EF4-FFF2-40B4-BE49-F238E27FC236}">
                <a16:creationId xmlns:a16="http://schemas.microsoft.com/office/drawing/2014/main" id="{45AC4B4F-89F5-FAB6-9118-BD003E4A7D0E}"/>
              </a:ext>
            </a:extLst>
          </p:cNvPr>
          <p:cNvPicPr>
            <a:picLocks noChangeAspect="1"/>
          </p:cNvPicPr>
          <p:nvPr/>
        </p:nvPicPr>
        <p:blipFill>
          <a:blip r:embed="rId4"/>
          <a:stretch>
            <a:fillRect/>
          </a:stretch>
        </p:blipFill>
        <p:spPr>
          <a:xfrm>
            <a:off x="2835783" y="3708449"/>
            <a:ext cx="4844835" cy="2969896"/>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76EA-EFD6-8096-A6C3-028CEC87FA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AB69F9-ECE7-19DE-6546-A8D41ECA22FD}"/>
              </a:ext>
            </a:extLst>
          </p:cNvPr>
          <p:cNvSpPr txBox="1"/>
          <p:nvPr/>
        </p:nvSpPr>
        <p:spPr>
          <a:xfrm>
            <a:off x="237520" y="737889"/>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C0927A73-CB38-E354-6AF5-BDC846DF9B5D}"/>
              </a:ext>
            </a:extLst>
          </p:cNvPr>
          <p:cNvPicPr>
            <a:picLocks noChangeAspect="1"/>
          </p:cNvPicPr>
          <p:nvPr/>
        </p:nvPicPr>
        <p:blipFill>
          <a:blip r:embed="rId2"/>
          <a:stretch>
            <a:fillRect/>
          </a:stretch>
        </p:blipFill>
        <p:spPr>
          <a:xfrm>
            <a:off x="237520" y="1137999"/>
            <a:ext cx="4791680" cy="2519601"/>
          </a:xfrm>
          <a:prstGeom prst="rect">
            <a:avLst/>
          </a:prstGeom>
        </p:spPr>
      </p:pic>
      <p:pic>
        <p:nvPicPr>
          <p:cNvPr id="6" name="Picture 5">
            <a:extLst>
              <a:ext uri="{FF2B5EF4-FFF2-40B4-BE49-F238E27FC236}">
                <a16:creationId xmlns:a16="http://schemas.microsoft.com/office/drawing/2014/main" id="{E6046C37-F54B-B187-3F08-CB825BBBD577}"/>
              </a:ext>
            </a:extLst>
          </p:cNvPr>
          <p:cNvPicPr>
            <a:picLocks noChangeAspect="1"/>
          </p:cNvPicPr>
          <p:nvPr/>
        </p:nvPicPr>
        <p:blipFill>
          <a:blip r:embed="rId3"/>
          <a:stretch>
            <a:fillRect/>
          </a:stretch>
        </p:blipFill>
        <p:spPr>
          <a:xfrm>
            <a:off x="5758962" y="1137998"/>
            <a:ext cx="5618666" cy="2519601"/>
          </a:xfrm>
          <a:prstGeom prst="rect">
            <a:avLst/>
          </a:prstGeom>
        </p:spPr>
      </p:pic>
      <p:pic>
        <p:nvPicPr>
          <p:cNvPr id="8" name="Picture 7">
            <a:extLst>
              <a:ext uri="{FF2B5EF4-FFF2-40B4-BE49-F238E27FC236}">
                <a16:creationId xmlns:a16="http://schemas.microsoft.com/office/drawing/2014/main" id="{529DF2B9-3571-6E2A-2EC6-47876DF38B3E}"/>
              </a:ext>
            </a:extLst>
          </p:cNvPr>
          <p:cNvPicPr>
            <a:picLocks noChangeAspect="1"/>
          </p:cNvPicPr>
          <p:nvPr/>
        </p:nvPicPr>
        <p:blipFill>
          <a:blip r:embed="rId4"/>
          <a:stretch>
            <a:fillRect/>
          </a:stretch>
        </p:blipFill>
        <p:spPr>
          <a:xfrm>
            <a:off x="2289924" y="3811222"/>
            <a:ext cx="5618666" cy="2869772"/>
          </a:xfrm>
          <a:prstGeom prst="rect">
            <a:avLst/>
          </a:prstGeom>
        </p:spPr>
      </p:pic>
    </p:spTree>
    <p:extLst>
      <p:ext uri="{BB962C8B-B14F-4D97-AF65-F5344CB8AC3E}">
        <p14:creationId xmlns:p14="http://schemas.microsoft.com/office/powerpoint/2010/main" val="1240024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13181" y="1005735"/>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1A3DF222-1D03-06E1-5DE7-2785C97727C0}"/>
              </a:ext>
            </a:extLst>
          </p:cNvPr>
          <p:cNvSpPr txBox="1"/>
          <p:nvPr/>
        </p:nvSpPr>
        <p:spPr>
          <a:xfrm>
            <a:off x="694592" y="2229149"/>
            <a:ext cx="10673862" cy="2390911"/>
          </a:xfrm>
          <a:prstGeom prst="rect">
            <a:avLst/>
          </a:prstGeom>
          <a:noFill/>
        </p:spPr>
        <p:txBody>
          <a:bodyPr wrap="square">
            <a:spAutoFit/>
          </a:bodyPr>
          <a:lstStyle/>
          <a:p>
            <a:r>
              <a:rPr lang="en-GB" dirty="0"/>
              <a:t>Wind power forecasting using machine learning offers a reliable and efficient way to predict energy output based on weather parameters. </a:t>
            </a:r>
          </a:p>
          <a:p>
            <a:r>
              <a:rPr lang="en-GB" dirty="0"/>
              <a:t>With models like Random Forest and </a:t>
            </a:r>
            <a:r>
              <a:rPr lang="en-GB" dirty="0" err="1"/>
              <a:t>XGBoost</a:t>
            </a:r>
            <a:r>
              <a:rPr lang="en-GB" dirty="0"/>
              <a:t>—especially when fine-tuned—forecast accuracy significantly improves, supporting smarter energy decisions.</a:t>
            </a:r>
          </a:p>
          <a:p>
            <a:r>
              <a:rPr lang="en-GB" dirty="0"/>
              <a:t>We can </a:t>
            </a:r>
            <a:r>
              <a:rPr lang="en-GB" b="1" dirty="0"/>
              <a:t>predict future power output with high accuracy</a:t>
            </a:r>
            <a:r>
              <a:rPr lang="en-GB" dirty="0"/>
              <a:t>, enabling better energy management and reducing operational uncertainty. </a:t>
            </a:r>
          </a:p>
          <a:p>
            <a:r>
              <a:rPr lang="en-GB" dirty="0"/>
              <a:t>This approach paves the way for </a:t>
            </a:r>
            <a:r>
              <a:rPr lang="en-GB" b="1" dirty="0"/>
              <a:t>enhanced grid reliability, reduced fossil fuel dependency, and a sustainable energy future</a:t>
            </a:r>
            <a:r>
              <a:rPr lang="en-GB" dirty="0"/>
              <a:t>.</a:t>
            </a:r>
            <a:endParaRPr lang="en-IN"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336</TotalTime>
  <Words>679</Words>
  <Application>Microsoft Office PowerPoint</Application>
  <PresentationFormat>Widescreen</PresentationFormat>
  <Paragraphs>87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My PC</cp:lastModifiedBy>
  <cp:revision>5</cp:revision>
  <dcterms:created xsi:type="dcterms:W3CDTF">2024-12-31T09:40:01Z</dcterms:created>
  <dcterms:modified xsi:type="dcterms:W3CDTF">2025-04-19T05:02:07Z</dcterms:modified>
</cp:coreProperties>
</file>